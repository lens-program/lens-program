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493749-C6CC-CD43-906D-D814E03B3860}" v="16" dt="2026-10-06T18:36:01.785"/>
    <p1510:client id="{A74729CD-41DD-D246-9192-1E7174D657A9}" v="2" dt="2026-10-06T19:50:08.6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29"/>
    <p:restoredTop sz="94690"/>
  </p:normalViewPr>
  <p:slideViewPr>
    <p:cSldViewPr snapToGrid="0">
      <p:cViewPr>
        <p:scale>
          <a:sx n="80" d="100"/>
          <a:sy n="80" d="100"/>
        </p:scale>
        <p:origin x="144" y="8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terson, Emily" userId="676e04c8-c061-4335-a7c6-315b16b0f623" providerId="ADAL" clId="{06DCAEE7-311A-5A7D-AB01-BCABA6579899}"/>
    <pc:docChg chg="undo custSel modSld">
      <pc:chgData name="Peterson, Emily" userId="676e04c8-c061-4335-a7c6-315b16b0f623" providerId="ADAL" clId="{06DCAEE7-311A-5A7D-AB01-BCABA6579899}" dt="2026-10-06T19:53:33.448" v="687" actId="20577"/>
      <pc:docMkLst>
        <pc:docMk/>
      </pc:docMkLst>
      <pc:sldChg chg="modSp mod">
        <pc:chgData name="Peterson, Emily" userId="676e04c8-c061-4335-a7c6-315b16b0f623" providerId="ADAL" clId="{06DCAEE7-311A-5A7D-AB01-BCABA6579899}" dt="2026-10-06T19:00:02.888" v="1" actId="20577"/>
        <pc:sldMkLst>
          <pc:docMk/>
          <pc:sldMk cId="3299410516" sldId="256"/>
        </pc:sldMkLst>
        <pc:spChg chg="mod">
          <ac:chgData name="Peterson, Emily" userId="676e04c8-c061-4335-a7c6-315b16b0f623" providerId="ADAL" clId="{06DCAEE7-311A-5A7D-AB01-BCABA6579899}" dt="2026-10-06T19:00:02.888" v="1" actId="20577"/>
          <ac:spMkLst>
            <pc:docMk/>
            <pc:sldMk cId="3299410516" sldId="256"/>
            <ac:spMk id="3" creationId="{CBFC60EB-44FA-A96F-15FC-CE286FA3FD1D}"/>
          </ac:spMkLst>
        </pc:spChg>
      </pc:sldChg>
      <pc:sldChg chg="modSp mod">
        <pc:chgData name="Peterson, Emily" userId="676e04c8-c061-4335-a7c6-315b16b0f623" providerId="ADAL" clId="{06DCAEE7-311A-5A7D-AB01-BCABA6579899}" dt="2026-10-06T19:53:33.448" v="687" actId="20577"/>
        <pc:sldMkLst>
          <pc:docMk/>
          <pc:sldMk cId="1949867015" sldId="260"/>
        </pc:sldMkLst>
        <pc:spChg chg="mod">
          <ac:chgData name="Peterson, Emily" userId="676e04c8-c061-4335-a7c6-315b16b0f623" providerId="ADAL" clId="{06DCAEE7-311A-5A7D-AB01-BCABA6579899}" dt="2026-10-06T19:53:33.448" v="687" actId="20577"/>
          <ac:spMkLst>
            <pc:docMk/>
            <pc:sldMk cId="1949867015" sldId="260"/>
            <ac:spMk id="3" creationId="{AB164AE4-CDA7-D4BE-D02E-A03736ED7B1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69AF66-33D9-5948-AF1C-5F5D8AF20D0D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1C0D84-17E7-C141-8710-8677C776B0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644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1C0D84-17E7-C141-8710-8677C776B09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812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6B7B9-A65E-A246-C3C2-6E2E54DCA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0452E7-8B3E-C7B9-3F0F-3DFA69D35A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0276EC-C50C-3989-7F08-5134ECDA4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6BF1B-3344-174F-B5FF-BBDA5E2E958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D027CD-386A-8DDC-F9AB-CBAB1A34D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31C71-2196-0F6A-A252-58831607A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D421E-4D43-2845-96EA-E1F0A68CC4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124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5ECF8-35D7-8531-3976-13E79673A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9603C-610E-3F88-9E86-03B02C9D88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8E724-E7A5-CC90-F062-CB217C7A0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6BF1B-3344-174F-B5FF-BBDA5E2E958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72C868-241B-B0D6-23D5-7A9676A6A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977B22-5CBB-28A9-BD47-246FA8195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D421E-4D43-2845-96EA-E1F0A68CC4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567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BD065-5037-2657-6659-C9FAA9AB7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3CBB4A-F12D-BA2B-48DC-CE86EB7BE2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BD3AEC-0D78-ACF1-0D3E-DEF5329D8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6BF1B-3344-174F-B5FF-BBDA5E2E958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DB5AC8-D196-099F-FC3C-F2CFA8598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80ECF-B9A9-5E22-7692-E54AB26E5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D421E-4D43-2845-96EA-E1F0A68CC4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711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09094-C80D-5067-95C1-EB1B8529F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18A14-F6CB-E44E-F9B1-AA76C97D2B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89FD03-16C6-C856-180C-D6FE6C1738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5B6E48-82C8-C43A-E37F-75BFBF984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6BF1B-3344-174F-B5FF-BBDA5E2E958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39DDF0-7621-AD74-E7D7-2148981D6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F5BE21-406E-1E91-F033-6966B00A1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D421E-4D43-2845-96EA-E1F0A68CC4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243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E42D7-91AF-7F29-6C09-E89718B99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52AE-0CCA-0842-CEA9-CF27857BE2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A647A9-F0D7-9842-D924-508D100BE6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228BFD-8914-4D1F-7394-ADD0ED68F4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734796-5D61-9AAE-AA7B-1D3AFEB726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D79146-677A-D2A7-C525-B82EBE992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6BF1B-3344-174F-B5FF-BBDA5E2E958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939F43-21C1-C81F-BA20-21B549C9E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19940B-4B4A-AD1E-D1A5-5ECF12B17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D421E-4D43-2845-96EA-E1F0A68CC4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014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E021F-79F2-A0D1-8663-7379AB277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1DEDB3-0A52-17E3-B8DD-6773E800D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6BF1B-3344-174F-B5FF-BBDA5E2E958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C3201F-4E2B-F7C4-741B-5F2FB1901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69702D-EB71-EAE8-1112-D31102D38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D421E-4D43-2845-96EA-E1F0A68CC4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885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B11A28-B294-1CB1-2C2B-9460AE410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6BF1B-3344-174F-B5FF-BBDA5E2E958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2F53CE-23B4-91B3-BD30-650400217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1D6FC6-136F-35BA-85E5-DF96E9C94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D421E-4D43-2845-96EA-E1F0A68CC4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914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8EA72-465F-A062-9069-C1BD27C7A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8262A8-D651-D156-2A30-27FCAC648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604502-87A9-666B-20D6-F854501E9E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CA5691-25C3-0C3A-D26F-ECD169302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6BF1B-3344-174F-B5FF-BBDA5E2E958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CE09B0-7377-B956-1B83-89D9D112E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A27D2-C083-C46E-88E0-E770F6E74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D421E-4D43-2845-96EA-E1F0A68CC4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55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551E0-AFA8-F45A-5D56-226F989BA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CA7AED-1F22-1718-C96A-0FF8E0F162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35D2E-8D5D-5FB0-B18C-D7F5880CC8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FF8B58-340D-DBE1-8C71-5BACBFD86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6BF1B-3344-174F-B5FF-BBDA5E2E958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9E3CC1-CEDD-477B-979C-248504F0E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C04383-8867-9AE0-C109-F4BB343D7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D421E-4D43-2845-96EA-E1F0A68CC4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853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2C4BB-D96F-A84E-C11F-E555D1EFE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D93A11-B7C1-FC22-D0C3-8E9EBF4271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93746A-49F1-B323-5918-FCBDAF99D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6BF1B-3344-174F-B5FF-BBDA5E2E958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3ACCE-4542-24B6-41B6-CD4EF8F21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B6F2B8-349D-9979-118D-6FAAA34AF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D421E-4D43-2845-96EA-E1F0A68CC4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865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9610F9-724C-D90D-7384-5EA3E9EC0F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CF778B-F35D-B365-E21F-35FB29E389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287B39-09FF-EF87-72B0-6743691CC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6BF1B-3344-174F-B5FF-BBDA5E2E958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911139-F0A3-2D5B-2B73-D116CCA31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E312D6-1AC0-6085-64BD-96F168ED7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D421E-4D43-2845-96EA-E1F0A68CC4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967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EE783F-77A3-8970-111F-652BFFF05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0A843B-EE2E-E608-3DCE-0DFA25839D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3B0385-37A1-663E-2891-1AAB0D9D8F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56BF1B-3344-174F-B5FF-BBDA5E2E958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E4BFB9-E498-CD22-1080-8FBDF9101F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16B5E2-5A77-5599-73B9-7D247F9792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9D421E-4D43-2845-96EA-E1F0A68CC4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647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9F7A830-AB4F-484C-6088-E7B70407F9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837" r="9089" b="9240"/>
          <a:stretch>
            <a:fillRect/>
          </a:stretch>
        </p:blipFill>
        <p:spPr bwMode="auto">
          <a:xfrm>
            <a:off x="3523488" y="10"/>
            <a:ext cx="86685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AA61AB-30BD-A1C2-341D-7784103ABD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>
                <a:solidFill>
                  <a:schemeClr val="bg1"/>
                </a:solidFill>
              </a:rPr>
              <a:t>Welcome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FC60EB-44FA-A96F-15FC-CE286FA3FD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en-US" b="1" dirty="0">
                <a:solidFill>
                  <a:schemeClr val="bg1"/>
                </a:solidFill>
              </a:rPr>
              <a:t>Learning, Estimation, and </a:t>
            </a:r>
            <a:r>
              <a:rPr lang="en-US" b="1" dirty="0" err="1">
                <a:solidFill>
                  <a:schemeClr val="bg1"/>
                </a:solidFill>
              </a:rPr>
              <a:t>Nonidentifiability</a:t>
            </a:r>
            <a:r>
              <a:rPr lang="en-US" b="1" dirty="0">
                <a:solidFill>
                  <a:schemeClr val="bg1"/>
                </a:solidFill>
              </a:rPr>
              <a:t> in Statistics Program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9410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6CD9A-C7F3-F369-74A6-E535F4229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91402"/>
          </a:xfrm>
        </p:spPr>
        <p:txBody>
          <a:bodyPr>
            <a:normAutofit fontScale="90000"/>
          </a:bodyPr>
          <a:lstStyle/>
          <a:p>
            <a:r>
              <a:rPr lang="en-US" dirty="0"/>
              <a:t>Agenda October 6, 2026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4E61DCF1-6E1D-24F8-925A-3973CBBC71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ABDDE97-01A3-834D-D186-6A41CBC38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1654"/>
            <a:ext cx="10515600" cy="4955309"/>
          </a:xfrm>
        </p:spPr>
        <p:txBody>
          <a:bodyPr>
            <a:normAutofit/>
          </a:bodyPr>
          <a:lstStyle/>
          <a:p>
            <a:r>
              <a:rPr lang="en-US" sz="2000" b="1" dirty="0"/>
              <a:t>Welcome &amp; Introductions </a:t>
            </a:r>
            <a:r>
              <a:rPr lang="en-US" sz="2000" dirty="0"/>
              <a:t>– Name, Institution/Dept, and how your work intersects with identifiability, partial identification, measurement, causal inference, etc. </a:t>
            </a:r>
          </a:p>
          <a:p>
            <a:r>
              <a:rPr lang="en-US" sz="2000" b="1" dirty="0"/>
              <a:t>What is LENS? </a:t>
            </a:r>
            <a:r>
              <a:rPr lang="en-US" sz="2000" dirty="0"/>
              <a:t>– Motivation, broad intellectual theme of LENS &amp; PRISM. </a:t>
            </a:r>
          </a:p>
          <a:p>
            <a:r>
              <a:rPr lang="en-US" sz="2000" b="1" dirty="0"/>
              <a:t>What do we mean by identifiability? </a:t>
            </a:r>
          </a:p>
          <a:p>
            <a:pPr lvl="1"/>
            <a:r>
              <a:rPr lang="en-US" sz="2000" dirty="0"/>
              <a:t>Structural </a:t>
            </a:r>
            <a:r>
              <a:rPr lang="en-US" sz="2000" dirty="0" err="1"/>
              <a:t>nonidentifiability</a:t>
            </a:r>
            <a:endParaRPr lang="en-US" sz="2000" dirty="0"/>
          </a:p>
          <a:p>
            <a:pPr lvl="1"/>
            <a:r>
              <a:rPr lang="en-US" sz="2000" dirty="0"/>
              <a:t>Practical identifiability</a:t>
            </a:r>
          </a:p>
          <a:p>
            <a:pPr lvl="1"/>
            <a:r>
              <a:rPr lang="en-US" sz="2000" dirty="0"/>
              <a:t>Recoverability</a:t>
            </a:r>
          </a:p>
          <a:p>
            <a:r>
              <a:rPr lang="en-US" sz="2000" b="1" dirty="0"/>
              <a:t>Group discussion: </a:t>
            </a:r>
            <a:r>
              <a:rPr lang="en-US" sz="2000" dirty="0"/>
              <a:t>Where does </a:t>
            </a:r>
            <a:r>
              <a:rPr lang="en-US" sz="2000" dirty="0" err="1"/>
              <a:t>nonidentifiability</a:t>
            </a:r>
            <a:r>
              <a:rPr lang="en-US" sz="2000" dirty="0"/>
              <a:t> appear in our work? </a:t>
            </a:r>
          </a:p>
          <a:p>
            <a:r>
              <a:rPr lang="en-US" sz="2000" b="1" dirty="0"/>
              <a:t>What should LENS do? </a:t>
            </a:r>
            <a:r>
              <a:rPr lang="en-US" sz="2000" dirty="0"/>
              <a:t>Desired format: technical talks, paper discussions, works in progress, tutorials, visiting speakers, etc. </a:t>
            </a:r>
          </a:p>
          <a:p>
            <a:r>
              <a:rPr lang="en-US" sz="2000" dirty="0"/>
              <a:t>U</a:t>
            </a:r>
            <a:r>
              <a:rPr lang="en-US" sz="2000" b="1" dirty="0"/>
              <a:t>pcoming meetings &amp; participation- </a:t>
            </a:r>
            <a:r>
              <a:rPr lang="en-US" sz="2000" dirty="0"/>
              <a:t>First Tuesday monthly; GitHub site. </a:t>
            </a:r>
          </a:p>
          <a:p>
            <a:r>
              <a:rPr lang="en-US" sz="2000" b="1" dirty="0"/>
              <a:t>Wrap-Up</a:t>
            </a:r>
          </a:p>
          <a:p>
            <a:pPr marL="457200" lvl="1" indent="0">
              <a:buNone/>
            </a:pPr>
            <a:endParaRPr lang="en-US" sz="2000" dirty="0"/>
          </a:p>
          <a:p>
            <a:pPr marL="457200" lvl="1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68912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6EA03-BE1B-A159-D14B-BFE30C4C5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LENS?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A6D52-56DC-8B64-82FA-52AC541FDD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Motivation: What can we actually learn from the data?</a:t>
            </a:r>
          </a:p>
          <a:p>
            <a:r>
              <a:rPr lang="en-US" sz="2000" dirty="0"/>
              <a:t>Focuses on settings where parameters may be weakly/partially identified. </a:t>
            </a:r>
          </a:p>
          <a:p>
            <a:r>
              <a:rPr lang="en-US" sz="2000" dirty="0"/>
              <a:t>Explores how data, model structure, priors/regularization, and additional information contribute to learning. </a:t>
            </a:r>
          </a:p>
          <a:p>
            <a:r>
              <a:rPr lang="en-US" sz="2000" dirty="0"/>
              <a:t>Brings together ideas spanning Bayesian and frequentist inference, causal inference, measurement error, latent-variable models, data integration, and related areas. </a:t>
            </a:r>
          </a:p>
          <a:p>
            <a:r>
              <a:rPr lang="en-US" sz="2000" dirty="0"/>
              <a:t>Interdisciplinary forum for discussing both theoretical questions and methodological applications. </a:t>
            </a:r>
          </a:p>
          <a:p>
            <a:r>
              <a:rPr lang="en-US" sz="2000" b="1" dirty="0">
                <a:highlight>
                  <a:srgbClr val="FFFF00"/>
                </a:highlight>
              </a:rPr>
              <a:t>Goal</a:t>
            </a:r>
            <a:r>
              <a:rPr lang="en-US" sz="2000" dirty="0">
                <a:highlight>
                  <a:srgbClr val="FFFF00"/>
                </a:highlight>
              </a:rPr>
              <a:t>: create a shared language around identifiability, information, and the limits of statistical learning. </a:t>
            </a:r>
            <a:endParaRPr lang="en-US" sz="20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49951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897FC-471D-0E6F-964E-84C08E3EF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we mean identifiability?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5F321-45D2-31D5-A10E-D3BB2EAF41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3200"/>
            <a:ext cx="10515600" cy="4703763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Identifiability: </a:t>
            </a:r>
            <a:r>
              <a:rPr lang="en-US" dirty="0"/>
              <a:t>Can different values of the unknown parameters produce the </a:t>
            </a:r>
            <a:r>
              <a:rPr lang="en-US" u="sng" dirty="0"/>
              <a:t>same distribution of observable data?</a:t>
            </a:r>
          </a:p>
          <a:p>
            <a:pPr lvl="1"/>
            <a:r>
              <a:rPr lang="en-US" dirty="0"/>
              <a:t>If no → parameter is identifiable</a:t>
            </a:r>
          </a:p>
          <a:p>
            <a:pPr lvl="1"/>
            <a:r>
              <a:rPr lang="en-US" dirty="0"/>
              <a:t>If yes → the model cannot uniquely distinguish them. </a:t>
            </a:r>
          </a:p>
          <a:p>
            <a:pPr lvl="1"/>
            <a:endParaRPr lang="en-US" dirty="0"/>
          </a:p>
          <a:p>
            <a:r>
              <a:rPr lang="en-US" b="1" dirty="0"/>
              <a:t>Structural Non-Identifiability: </a:t>
            </a:r>
            <a:r>
              <a:rPr lang="en-US" dirty="0"/>
              <a:t>Property of the model itself</a:t>
            </a:r>
            <a:endParaRPr lang="en-US" u="sng" dirty="0"/>
          </a:p>
          <a:p>
            <a:pPr lvl="1"/>
            <a:r>
              <a:rPr lang="en-US" dirty="0"/>
              <a:t>Multiple parameter values imply the same observable distribution. </a:t>
            </a:r>
          </a:p>
          <a:p>
            <a:pPr lvl="1"/>
            <a:r>
              <a:rPr lang="en-US" dirty="0"/>
              <a:t>More data of the same type cannot resolve the ambiguity. </a:t>
            </a:r>
          </a:p>
          <a:p>
            <a:pPr lvl="1"/>
            <a:endParaRPr lang="en-US" dirty="0"/>
          </a:p>
          <a:p>
            <a:r>
              <a:rPr lang="en-US" b="1" dirty="0"/>
              <a:t>Practical Identifiability: </a:t>
            </a:r>
            <a:r>
              <a:rPr lang="en-US" dirty="0"/>
              <a:t>The model may be structurally identifiable, but the available data contain too little information. </a:t>
            </a:r>
          </a:p>
          <a:p>
            <a:pPr lvl="1"/>
            <a:r>
              <a:rPr lang="en-US" dirty="0"/>
              <a:t>Limited sample size, weak signal, sparse observations, etc. </a:t>
            </a:r>
          </a:p>
          <a:p>
            <a:pPr lvl="1"/>
            <a:endParaRPr lang="en-US" dirty="0"/>
          </a:p>
          <a:p>
            <a:r>
              <a:rPr lang="en-US" b="1" dirty="0"/>
              <a:t>Recoverability: </a:t>
            </a:r>
            <a:r>
              <a:rPr lang="en-US" dirty="0"/>
              <a:t>Moves from identifiability vs non identifiable question to how much was learned. </a:t>
            </a:r>
          </a:p>
          <a:p>
            <a:pPr lvl="1"/>
            <a:r>
              <a:rPr lang="en-US" dirty="0"/>
              <a:t>In nonidentified models, asks whether the observed data provide information that distinguishes among otherwise observationally equivalent parameter values. </a:t>
            </a:r>
          </a:p>
          <a:p>
            <a:pPr marL="457200" lvl="1" indent="0">
              <a:buNone/>
            </a:pPr>
            <a:endParaRPr lang="en-US" b="1" dirty="0"/>
          </a:p>
          <a:p>
            <a:pPr marL="457200" lvl="1" indent="0">
              <a:buNone/>
            </a:pPr>
            <a:endParaRPr lang="en-US" b="1" dirty="0"/>
          </a:p>
          <a:p>
            <a:pPr marL="457200" lvl="1" indent="0">
              <a:buNone/>
            </a:pPr>
            <a:r>
              <a:rPr lang="en-US" b="1" dirty="0">
                <a:solidFill>
                  <a:srgbClr val="00B050"/>
                </a:solidFill>
              </a:rPr>
              <a:t>Group discussion: Where does identifiability appear in your work?</a:t>
            </a:r>
          </a:p>
        </p:txBody>
      </p:sp>
    </p:spTree>
    <p:extLst>
      <p:ext uri="{BB962C8B-B14F-4D97-AF65-F5344CB8AC3E}">
        <p14:creationId xmlns:p14="http://schemas.microsoft.com/office/powerpoint/2010/main" val="1767066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217F3-843A-BFE1-9F13-B514EDA0C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should LENS do?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64AE4-CDA7-D4BE-D02E-A03736ED7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What desired formats would you find helpful for this group?</a:t>
            </a:r>
          </a:p>
          <a:p>
            <a:r>
              <a:rPr lang="en-US" dirty="0"/>
              <a:t>Compiling list of terminology and key references. Build a collective knowledge. </a:t>
            </a:r>
          </a:p>
          <a:p>
            <a:pPr lvl="1"/>
            <a:r>
              <a:rPr lang="en-US" dirty="0"/>
              <a:t>Key overlaps</a:t>
            </a:r>
          </a:p>
          <a:p>
            <a:pPr lvl="1"/>
            <a:r>
              <a:rPr lang="en-US" dirty="0"/>
              <a:t>Application direction. </a:t>
            </a:r>
          </a:p>
          <a:p>
            <a:pPr lvl="1"/>
            <a:endParaRPr lang="en-US" dirty="0"/>
          </a:p>
          <a:p>
            <a:r>
              <a:rPr lang="en-US" dirty="0"/>
              <a:t>Open problems. Put together a paper. Consensus document. Maybe a grant proposal. Scoped out open problems and something we could put together. Forward looking. </a:t>
            </a:r>
          </a:p>
          <a:p>
            <a:pPr lvl="1"/>
            <a:r>
              <a:rPr lang="en-US" dirty="0"/>
              <a:t>What is this problem. What are different terms. What are open problems. </a:t>
            </a:r>
          </a:p>
          <a:p>
            <a:r>
              <a:rPr lang="en-US" dirty="0"/>
              <a:t>Forward Looking – Running seminars on peoples recent research. Working paper or something. Learn about some topic. Terminological differences. Succession of people from different topics. </a:t>
            </a:r>
          </a:p>
          <a:p>
            <a:r>
              <a:rPr lang="en-US" dirty="0"/>
              <a:t>Different problems from our different areas. </a:t>
            </a:r>
          </a:p>
          <a:p>
            <a:r>
              <a:rPr lang="en-US" dirty="0"/>
              <a:t>Compiling list of terminology and key references. Build a collective knowledge.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98670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491</Words>
  <Application>Microsoft Macintosh PowerPoint</Application>
  <PresentationFormat>Widescreen</PresentationFormat>
  <Paragraphs>49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Office Theme</vt:lpstr>
      <vt:lpstr>Welcome</vt:lpstr>
      <vt:lpstr>Agenda October 6, 2026</vt:lpstr>
      <vt:lpstr>What is LENS?</vt:lpstr>
      <vt:lpstr>What do we mean identifiability?</vt:lpstr>
      <vt:lpstr>What should LENS do?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Peterson, Emily</dc:creator>
  <cp:lastModifiedBy>Peterson, Emily</cp:lastModifiedBy>
  <cp:revision>1</cp:revision>
  <dcterms:created xsi:type="dcterms:W3CDTF">2026-10-06T18:12:53Z</dcterms:created>
  <dcterms:modified xsi:type="dcterms:W3CDTF">2026-10-06T19:57:18Z</dcterms:modified>
</cp:coreProperties>
</file>